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f738c2308f49f0" /><Relationship Type="http://schemas.openxmlformats.org/officeDocument/2006/relationships/extended-properties" Target="/docProps/app.xml" Id="R5f7e5d5c6e3c4d28" /><Relationship Type="http://schemas.openxmlformats.org/officeDocument/2006/relationships/officeDocument" Target="/ppt/presentation.xml" Id="R79a1988318484f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12ef025c994eed"/>
  </p:sldMasterIdLst>
  <p:notesMasterIdLst>
    <p:notesMasterId xmlns:r="http://schemas.openxmlformats.org/officeDocument/2006/relationships" r:id="R7cb79fcf2273448c"/>
  </p:notesMasterIdLst>
  <p:sldIdLst>
    <p:sldId xmlns:r="http://schemas.openxmlformats.org/officeDocument/2006/relationships" id="256" r:id="R3d1a173d490642d5"/>
    <p:sldId xmlns:r="http://schemas.openxmlformats.org/officeDocument/2006/relationships" id="257" r:id="R0ab8a64596d14571"/>
    <p:sldId xmlns:r="http://schemas.openxmlformats.org/officeDocument/2006/relationships" id="258" r:id="Rfa3c14ea23ff41cc"/>
    <p:sldId xmlns:r="http://schemas.openxmlformats.org/officeDocument/2006/relationships" id="259" r:id="Rb61c062f33c745b3"/>
    <p:sldId xmlns:r="http://schemas.openxmlformats.org/officeDocument/2006/relationships" id="260" r:id="R6710008b718f49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445a3b78984197" /><Relationship Type="http://schemas.openxmlformats.org/officeDocument/2006/relationships/slideMaster" Target="/ppt/slideMasters/slideMaster1.xml" Id="R2112ef025c994eed" /><Relationship Type="http://schemas.openxmlformats.org/officeDocument/2006/relationships/notesMaster" Target="/ppt/notesMasters/notesMaster1.xml" Id="R7cb79fcf2273448c" /><Relationship Type="http://schemas.openxmlformats.org/officeDocument/2006/relationships/presProps" Target="/ppt/presProps.xml" Id="Ra007fb8b936e4bcd" /><Relationship Type="http://schemas.openxmlformats.org/officeDocument/2006/relationships/tableStyles" Target="/ppt/tableStyles.xml" Id="R831ecfa738614348" /><Relationship Type="http://schemas.openxmlformats.org/officeDocument/2006/relationships/slide" Target="/ppt/slides/slide1.xml" Id="R3d1a173d490642d5" /><Relationship Type="http://schemas.openxmlformats.org/officeDocument/2006/relationships/slide" Target="/ppt/slides/slide2.xml" Id="R0ab8a64596d14571" /><Relationship Type="http://schemas.openxmlformats.org/officeDocument/2006/relationships/slide" Target="/ppt/slides/slide3.xml" Id="Rfa3c14ea23ff41cc" /><Relationship Type="http://schemas.openxmlformats.org/officeDocument/2006/relationships/slide" Target="/ppt/slides/slide4.xml" Id="Rb61c062f33c745b3" /><Relationship Type="http://schemas.openxmlformats.org/officeDocument/2006/relationships/slide" Target="/ppt/slides/slide5.xml" Id="R6710008b718f49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816f52974b4d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79be7ac1b94da9" /><Relationship Type="http://schemas.openxmlformats.org/officeDocument/2006/relationships/notesMaster" Target="/ppt/notesMasters/notesMaster1.xml" Id="R9808636fd9104a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a0606c6aaf4cad" /><Relationship Type="http://schemas.openxmlformats.org/officeDocument/2006/relationships/notesMaster" Target="/ppt/notesMasters/notesMaster1.xml" Id="R6ea824411d8a42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b6b64858b143cb" /><Relationship Type="http://schemas.openxmlformats.org/officeDocument/2006/relationships/notesMaster" Target="/ppt/notesMasters/notesMaster1.xml" Id="R606edb4ae2e74b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420d5ed715432c" /><Relationship Type="http://schemas.openxmlformats.org/officeDocument/2006/relationships/notesMaster" Target="/ppt/notesMasters/notesMaster1.xml" Id="R60c73db46a0d46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bcf04d90fe4fc4" /><Relationship Type="http://schemas.openxmlformats.org/officeDocument/2006/relationships/notesMaster" Target="/ppt/notesMasters/notesMaster1.xml" Id="R2879262dc33e46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прогнозируем почасовую нормализованную мощность двух турбин на сутки или двое. Показываем повторный исторический расчёт с архивной погодой. Источник задачи: https://docs.google.com/document/d/1Fn5IJoj87Fx7IAknG26zkfX8c0eq7feCujd0m66PCgY/edit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Система получает погодный запуск, проверяет данные, вызывает модель, формирует почасовой прогноз и сравнивает повторные выпуски. Для каждой турбины используем эмпирическую кривую мощности с температурной поправкой. Контроллер forecast.agent отслеживает хеши локальных CSV и погодных файлов. При изменении автоматически рассчитывает и проверяет новый результат, сохраняет версию и журнал. При ошибке сохраняет прошлый успешный результат. Это фиксированный исторический период, а не подписка на новые онлайн-выпуски. Браузер использует отдельный API и требует нового запроса. Будущие наблюдения мощности в обучение не входят. 100 м — выбранная высота погодного признака, высота измерителя неизвестна. Буфер 12 часов не доказывает фактическую публикацию погодного запуска. Реализация: https://github.com/BAITC-Hacks/hack-97280b7c-zhubanov-team/tree/a46f23a/backend и https://github.com/BAITC-Hacks/hack-97280b7c-zhubanov-team/blob/a46f23a/forecast/agent.py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результаты опубликованной командой январской диагностики, а не новая проверка качества этой репетиции. MAE измеряется в единицах нормализованной мощности. Даты выпусков: 1, 4, 7, 10, 13, 16, 19, 22, 25 и 28 января 2026 в 12:00 UTC. Обе трактовки времени — допущения. Мы не выбираем меньшую ошибку как официальный результат. Январские даты анализировали во время разработки, поэтому это исследовательская диагностика. Источник: https://github.com/BAITC-Hacks/hack-97280b7c-zhubanov-team/blob/a46f23a/docs/model-validation.md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Живое демо: выбрать Backend API, выпуск 31 января 2026 в 12:00 UTC, горизонт 48 часов. Нажать Пересчитать прогноз. Затем нажать Следующий. График показывает общие часы с 1 февраля 13:00 по 2 февраля 12:00 UTC. Для переносимости в Excel данные графика округлены до 6 знаков, JSON сохраняет исходную точность. Наибольший пересмотр для первой турбины приходится на 2 февраля 11:00 UTC. Значения берутся из реальных CSV и архивного погодного кэша этой репетиции. Изменение погоды — наблюдаемое свидетельство, а не доказательство единственной причины: с выпуском также меняется допустимый обучающий срез. Источник данных: outputs/submission-a46f23a/rolling-utc.json, recalculations[0], сценарий UTC. Код: https://github.com/BAITC-Hacks/hack-97280b7c-zhubanov-team/blob/a46f23a/forecast/service.py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Полная локальная репетиция на версии a46f23a прошла для UTC и Asia/Almaty с запрещёнными обращениями погодного клиента в интернет. В каждом сценарии 29 выпусков, 2784 строки и 28 сравнений. Это перекрывающиеся горизонты. CSV и manifest.json позволяют повторить и проверить расчёт. Прогнозные окна низкой мощности — сценарная подсказка оператору. Номинальные мощности неизвестны, поэтому MW и MWh не заявляем. Для сдачи приложены исходники, инструкция, выгрузки и презентация. Данные и кэш хранятся локально. Источник проверки: outputs/demo-preparation/offline-report-a46f23a.json. Польза описывает предполагаемое применение, экономический эффект не измеряли.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eb936add894f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870d2fc02a4ce1" /><Relationship Type="http://schemas.openxmlformats.org/officeDocument/2006/relationships/slideLayout" Target="/ppt/slideLayouts/slideLayout1.xml" Id="R2df398869fd340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f398869fd340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5824cfdd14496" /><Relationship Type="http://schemas.openxmlformats.org/officeDocument/2006/relationships/notesSlide" Target="/ppt/notesSlides/notesSlide1.xml" Id="R749196c3a5e44b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e8c59f0d84a82" /><Relationship Type="http://schemas.openxmlformats.org/officeDocument/2006/relationships/notesSlide" Target="/ppt/notesSlides/notesSlide2.xml" Id="Rf61d7d7b60d848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6e66372314f00" /><Relationship Type="http://schemas.openxmlformats.org/officeDocument/2006/relationships/notesSlide" Target="/ppt/notesSlides/notesSlide3.xml" Id="R72b2a14cee9b40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dee00b4704605" /><Relationship Type="http://schemas.openxmlformats.org/officeDocument/2006/relationships/chart" Target="/ppt/slides/charts/chart1.xml" Id="R5605305aeed34021" /><Relationship Type="http://schemas.openxmlformats.org/officeDocument/2006/relationships/notesSlide" Target="/ppt/notesSlides/notesSlide4.xml" Id="R94efff6f347f4d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5255c973441de" /><Relationship Type="http://schemas.openxmlformats.org/officeDocument/2006/relationships/notesSlide" Target="/ppt/notesSlides/notesSlide5.xml" Id="R86ff0a4158834f3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Выпуск 31 января</c:v>
          </c:tx>
          <c:spPr>
            <a:ln xmlns:a="http://schemas.openxmlformats.org/drawingml/2006/main" w="28575">
              <a:solidFill>
                <a:srgbClr val="859B95"/>
              </a:solidFill>
            </a:ln>
          </c:spPr>
          <c:marker>
            <c:symbol val="none"/>
          </c:marker>
          <c:cat>
            <c:numRef>
              <c:f>'Chart Data'!$A$2:$A$25</c:f>
              <c:numCache>
                <c:formatCode>General</c:formatCode>
                <c:ptCount val="24"/>
                <c:pt idx="0">
                  <c:v>13</c:v>
                </c:pt>
                <c:pt idx="1">
                  <c:v>14</c:v>
                </c:pt>
                <c:pt idx="2">
                  <c:v>15</c:v>
                </c:pt>
                <c:pt idx="3">
                  <c:v>16</c:v>
                </c:pt>
                <c:pt idx="4">
                  <c:v>17</c:v>
                </c:pt>
                <c:pt idx="5">
                  <c:v>18</c:v>
                </c:pt>
                <c:pt idx="6">
                  <c:v>19</c:v>
                </c:pt>
                <c:pt idx="7">
                  <c:v>20</c:v>
                </c:pt>
                <c:pt idx="8">
                  <c:v>21</c:v>
                </c:pt>
                <c:pt idx="9">
                  <c:v>22</c:v>
                </c:pt>
                <c:pt idx="10">
                  <c:v>23</c:v>
                </c:pt>
                <c:pt idx="11">
                  <c:v>00</c:v>
                </c:pt>
                <c:pt idx="12">
                  <c:v>01</c:v>
                </c:pt>
                <c:pt idx="13">
                  <c:v>02</c:v>
                </c:pt>
                <c:pt idx="14">
                  <c:v>03</c:v>
                </c:pt>
                <c:pt idx="15">
                  <c:v>04</c:v>
                </c:pt>
                <c:pt idx="16">
                  <c:v>05</c:v>
                </c:pt>
                <c:pt idx="17">
                  <c:v>06</c:v>
                </c:pt>
                <c:pt idx="18">
                  <c:v>07</c:v>
                </c:pt>
                <c:pt idx="19">
                  <c:v>08</c:v>
                </c:pt>
                <c:pt idx="20">
                  <c:v>09</c:v>
                </c:pt>
                <c:pt idx="21">
                  <c:v>10</c:v>
                </c:pt>
                <c:pt idx="22">
                  <c:v>11</c:v>
                </c:pt>
                <c:pt idx="23">
                  <c:v>12</c:v>
                </c:pt>
              </c:numCache>
            </c:numRef>
          </c:cat>
          <c:val>
            <c:numRef>
              <c:f>'Chart Data'!$B$2:$B$25</c:f>
              <c:numCache>
                <c:formatCode>0.00</c:formatCode>
                <c:ptCount val="24"/>
                <c:pt idx="0">
                  <c:v>0.261373</c:v>
                </c:pt>
                <c:pt idx="1">
                  <c:v>0.241893</c:v>
                </c:pt>
                <c:pt idx="2">
                  <c:v>0.267747</c:v>
                </c:pt>
                <c:pt idx="3">
                  <c:v>0.255516</c:v>
                </c:pt>
                <c:pt idx="4">
                  <c:v>0.263002</c:v>
                </c:pt>
                <c:pt idx="5">
                  <c:v>0.245122</c:v>
                </c:pt>
                <c:pt idx="6">
                  <c:v>0.233776</c:v>
                </c:pt>
                <c:pt idx="7">
                  <c:v>0.224579</c:v>
                </c:pt>
                <c:pt idx="8">
                  <c:v>0.243354</c:v>
                </c:pt>
                <c:pt idx="9">
                  <c:v>0.239352</c:v>
                </c:pt>
                <c:pt idx="10">
                  <c:v>0.267074</c:v>
                </c:pt>
                <c:pt idx="11">
                  <c:v>0.29312</c:v>
                </c:pt>
                <c:pt idx="12">
                  <c:v>0.287606</c:v>
                </c:pt>
                <c:pt idx="13">
                  <c:v>0.31367</c:v>
                </c:pt>
                <c:pt idx="14">
                  <c:v>0.307983</c:v>
                </c:pt>
                <c:pt idx="15">
                  <c:v>0.414254</c:v>
                </c:pt>
                <c:pt idx="16">
                  <c:v>0.30393</c:v>
                </c:pt>
                <c:pt idx="17">
                  <c:v>0.440924</c:v>
                </c:pt>
                <c:pt idx="18">
                  <c:v>0.595493</c:v>
                </c:pt>
                <c:pt idx="19">
                  <c:v>0.726487</c:v>
                </c:pt>
                <c:pt idx="20">
                  <c:v>0.690895</c:v>
                </c:pt>
                <c:pt idx="21">
                  <c:v>0.608059</c:v>
                </c:pt>
                <c:pt idx="22">
                  <c:v>0.082217</c:v>
                </c:pt>
                <c:pt idx="23">
                  <c:v>0.01</c:v>
                </c:pt>
              </c:numCache>
            </c:numRef>
          </c:val>
          <c:smooth val="0"/>
        </c:ser>
        <c:ser>
          <c:idx val="1"/>
          <c:order val="1"/>
          <c:tx>
            <c:v>Выпуск 1 февраля</c:v>
          </c:tx>
          <c:spPr>
            <a:ln xmlns:a="http://schemas.openxmlformats.org/drawingml/2006/main" w="38100">
              <a:solidFill>
                <a:srgbClr val="197260"/>
              </a:solidFill>
            </a:ln>
          </c:spPr>
          <c:marker>
            <c:symbol val="none"/>
          </c:marker>
          <c:cat>
            <c:numRef>
              <c:f>'Chart Data'!$C$2:$C$25</c:f>
              <c:numCache>
                <c:formatCode>General</c:formatCode>
                <c:ptCount val="24"/>
                <c:pt idx="0">
                  <c:v>13</c:v>
                </c:pt>
                <c:pt idx="1">
                  <c:v>14</c:v>
                </c:pt>
                <c:pt idx="2">
                  <c:v>15</c:v>
                </c:pt>
                <c:pt idx="3">
                  <c:v>16</c:v>
                </c:pt>
                <c:pt idx="4">
                  <c:v>17</c:v>
                </c:pt>
                <c:pt idx="5">
                  <c:v>18</c:v>
                </c:pt>
                <c:pt idx="6">
                  <c:v>19</c:v>
                </c:pt>
                <c:pt idx="7">
                  <c:v>20</c:v>
                </c:pt>
                <c:pt idx="8">
                  <c:v>21</c:v>
                </c:pt>
                <c:pt idx="9">
                  <c:v>22</c:v>
                </c:pt>
                <c:pt idx="10">
                  <c:v>23</c:v>
                </c:pt>
                <c:pt idx="11">
                  <c:v>00</c:v>
                </c:pt>
                <c:pt idx="12">
                  <c:v>01</c:v>
                </c:pt>
                <c:pt idx="13">
                  <c:v>02</c:v>
                </c:pt>
                <c:pt idx="14">
                  <c:v>03</c:v>
                </c:pt>
                <c:pt idx="15">
                  <c:v>04</c:v>
                </c:pt>
                <c:pt idx="16">
                  <c:v>05</c:v>
                </c:pt>
                <c:pt idx="17">
                  <c:v>06</c:v>
                </c:pt>
                <c:pt idx="18">
                  <c:v>07</c:v>
                </c:pt>
                <c:pt idx="19">
                  <c:v>08</c:v>
                </c:pt>
                <c:pt idx="20">
                  <c:v>09</c:v>
                </c:pt>
                <c:pt idx="21">
                  <c:v>10</c:v>
                </c:pt>
                <c:pt idx="22">
                  <c:v>11</c:v>
                </c:pt>
                <c:pt idx="23">
                  <c:v>12</c:v>
                </c:pt>
              </c:numCache>
            </c:numRef>
          </c:cat>
          <c:val>
            <c:numRef>
              <c:f>'Chart Data'!$D$2:$D$25</c:f>
              <c:numCache>
                <c:formatCode>0.00</c:formatCode>
                <c:ptCount val="24"/>
                <c:pt idx="0">
                  <c:v>0.246768</c:v>
                </c:pt>
                <c:pt idx="1">
                  <c:v>0.266664</c:v>
                </c:pt>
                <c:pt idx="2">
                  <c:v>0.230717</c:v>
                </c:pt>
                <c:pt idx="3">
                  <c:v>0.241163</c:v>
                </c:pt>
                <c:pt idx="4">
                  <c:v>0.243545</c:v>
                </c:pt>
                <c:pt idx="5">
                  <c:v>0.225093</c:v>
                </c:pt>
                <c:pt idx="6">
                  <c:v>0.191249</c:v>
                </c:pt>
                <c:pt idx="7">
                  <c:v>0.178183</c:v>
                </c:pt>
                <c:pt idx="8">
                  <c:v>0.207884</c:v>
                </c:pt>
                <c:pt idx="9">
                  <c:v>0.261014</c:v>
                </c:pt>
                <c:pt idx="10">
                  <c:v>0.350986</c:v>
                </c:pt>
                <c:pt idx="11">
                  <c:v>0.35777</c:v>
                </c:pt>
                <c:pt idx="12">
                  <c:v>0.351667</c:v>
                </c:pt>
                <c:pt idx="13">
                  <c:v>0.31536</c:v>
                </c:pt>
                <c:pt idx="14">
                  <c:v>0.298307</c:v>
                </c:pt>
                <c:pt idx="15">
                  <c:v>0.51006</c:v>
                </c:pt>
                <c:pt idx="16">
                  <c:v>0.338231</c:v>
                </c:pt>
                <c:pt idx="17">
                  <c:v>0.463096</c:v>
                </c:pt>
                <c:pt idx="18">
                  <c:v>0.596113</c:v>
                </c:pt>
                <c:pt idx="19">
                  <c:v>0.698886</c:v>
                </c:pt>
                <c:pt idx="20">
                  <c:v>0.669004</c:v>
                </c:pt>
                <c:pt idx="21">
                  <c:v>0.583228</c:v>
                </c:pt>
                <c:pt idx="22">
                  <c:v>0.565344</c:v>
                </c:pt>
                <c:pt idx="23">
                  <c:v>0.379997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6B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DF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7F9F6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7F9F6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30A50-6B60-4F82-8039-9921DAEC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90625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WindTrace AI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Прогноз ветропарка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EB3F0-F517-4DE5-A4AA-9F7E6CDE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DCEDE4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DCEDE4"/>
                </a:solidFill>
                <a:latin typeface="Arial"/>
                <a:ea typeface="Arial"/>
                <a:cs typeface="Arial"/>
              </a:rPr>
              <a:t>Почасовая мощность двух турбин</a:t>
            </a:r>
          </a:p>
          <a:p xmlns:a="http://schemas.openxmlformats.org/drawingml/2006/main">
            <a:pPr>
              <a:defRPr sz="2700" b="0">
                <a:solidFill>
                  <a:srgbClr val="DCEDE4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DCEDE4"/>
                </a:solidFill>
                <a:latin typeface="Arial"/>
                <a:ea typeface="Arial"/>
                <a:cs typeface="Arial"/>
              </a:rPr>
              <a:t>на следующие 24–48 часов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FEDF4-4442-4FF5-B5EC-7CF0C97F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CEDE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CEDE4"/>
                </a:solidFill>
                <a:latin typeface="Arial"/>
                <a:ea typeface="Arial"/>
                <a:cs typeface="Arial"/>
              </a:rPr>
              <a:t>Команда Zhubanov</a:t>
            </a:r>
          </a:p>
        </p:txBody>
      </p:sp>
    </p:spTree>
    <p:extLst>
      <p:ext uri="{BB962C8B-B14F-4D97-AF65-F5344CB8AC3E}">
        <p14:creationId xmlns:p14="http://schemas.microsoft.com/office/powerpoint/2010/main" val="16426073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4EC659-E60B-4274-B08D-BE239DF3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35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2352F"/>
                </a:solidFill>
                <a:latin typeface="Arial"/>
                <a:ea typeface="Arial"/>
                <a:cs typeface="Arial"/>
              </a:rPr>
              <a:t>Модель и последовательность расчёта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5F78E-C589-411B-951A-15C56AEB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972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260"/>
                </a:solidFill>
                <a:latin typeface="Arial"/>
                <a:ea typeface="Arial"/>
                <a:cs typeface="Arial"/>
              </a:rPr>
              <a:t>История турбин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F8AF8-0CB8-46F1-83AC-E5F69BE4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35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52F"/>
                </a:solidFill>
                <a:latin typeface="Arial"/>
                <a:ea typeface="Arial"/>
                <a:cs typeface="Arial"/>
              </a:rPr>
              <a:t>Данные до времени выпуска.</a:t>
            </a:r>
          </a:p>
          <a:p xmlns:a="http://schemas.openxmlformats.org/drawingml/2006/main">
            <a:pPr>
              <a:defRPr sz="2100" b="0">
                <a:solidFill>
                  <a:srgbClr val="1235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52F"/>
                </a:solidFill>
                <a:latin typeface="Arial"/>
                <a:ea typeface="Arial"/>
                <a:cs typeface="Arial"/>
              </a:rPr>
              <a:t>Пропуски сохраняем.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4140F-72FE-4F02-99CF-A1BA3134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972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260"/>
                </a:solidFill>
                <a:latin typeface="Arial"/>
                <a:ea typeface="Arial"/>
                <a:cs typeface="Arial"/>
              </a:rPr>
              <a:t>Архивная погода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6E614-092A-400D-92FF-400B4802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35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52F"/>
                </a:solidFill>
                <a:latin typeface="Arial"/>
                <a:ea typeface="Arial"/>
                <a:cs typeface="Arial"/>
              </a:rPr>
              <a:t>ECMWF IFS через Open-Meteo.</a:t>
            </a:r>
          </a:p>
          <a:p xmlns:a="http://schemas.openxmlformats.org/drawingml/2006/main">
            <a:pPr>
              <a:defRPr sz="2100" b="0">
                <a:solidFill>
                  <a:srgbClr val="1235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52F"/>
                </a:solidFill>
                <a:latin typeface="Arial"/>
                <a:ea typeface="Arial"/>
                <a:cs typeface="Arial"/>
              </a:rPr>
              <a:t>Ветер на 100 м и температура.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FEA60-0FCD-487E-91ED-7F1DEA79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552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972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260"/>
                </a:solidFill>
                <a:latin typeface="Arial"/>
                <a:ea typeface="Arial"/>
                <a:cs typeface="Arial"/>
              </a:rPr>
              <a:t>Отдельная кривая мощности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B9904-4B1C-4D36-BDCB-A11A4C43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0025"/>
            <a:ext cx="5429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35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52F"/>
                </a:solidFill>
                <a:latin typeface="Arial"/>
                <a:ea typeface="Arial"/>
                <a:cs typeface="Arial"/>
              </a:rPr>
              <a:t>Медианы по ветровым интервалам</a:t>
            </a:r>
          </a:p>
          <a:p xmlns:a="http://schemas.openxmlformats.org/drawingml/2006/main">
            <a:pPr>
              <a:defRPr sz="2100" b="0">
                <a:solidFill>
                  <a:srgbClr val="1235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52F"/>
                </a:solidFill>
                <a:latin typeface="Arial"/>
                <a:ea typeface="Arial"/>
                <a:cs typeface="Arial"/>
              </a:rPr>
              <a:t>с температурной поправкой.</a:t>
            </a:r>
          </a:p>
          <a:p xmlns:a="http://schemas.openxmlformats.org/drawingml/2006/main">
            <a:pPr>
              <a:defRPr sz="2100" b="0">
                <a:solidFill>
                  <a:srgbClr val="1235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52F"/>
                </a:solidFill>
                <a:latin typeface="Arial"/>
                <a:ea typeface="Arial"/>
                <a:cs typeface="Arial"/>
              </a:rPr>
              <a:t>Результат в диапазоне 0–1.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297CB-55C8-4269-93C0-A8D833B8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972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260"/>
                </a:solidFill>
                <a:latin typeface="Arial"/>
                <a:ea typeface="Arial"/>
                <a:cs typeface="Arial"/>
              </a:rPr>
              <a:t>Контроллер изменений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DDF32-61B4-4BDC-BC23-A8F6B750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10025"/>
            <a:ext cx="4762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35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52F"/>
                </a:solidFill>
                <a:latin typeface="Arial"/>
                <a:ea typeface="Arial"/>
                <a:cs typeface="Arial"/>
              </a:rPr>
              <a:t>Следит за локальными входами.</a:t>
            </a:r>
          </a:p>
          <a:p xmlns:a="http://schemas.openxmlformats.org/drawingml/2006/main">
            <a:pPr>
              <a:defRPr sz="2100" b="0">
                <a:solidFill>
                  <a:srgbClr val="1235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52F"/>
                </a:solidFill>
                <a:latin typeface="Arial"/>
                <a:ea typeface="Arial"/>
                <a:cs typeface="Arial"/>
              </a:rPr>
              <a:t>Пересчитывает при изменении.</a:t>
            </a:r>
          </a:p>
          <a:p xmlns:a="http://schemas.openxmlformats.org/drawingml/2006/main">
            <a:pPr>
              <a:defRPr sz="2100" b="0">
                <a:solidFill>
                  <a:srgbClr val="1235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52F"/>
                </a:solidFill>
                <a:latin typeface="Arial"/>
                <a:ea typeface="Arial"/>
                <a:cs typeface="Arial"/>
              </a:rPr>
              <a:t>Публикует проверенные версии.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7D8D92-FC20-4422-B3DF-B817D1F2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1665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65F"/>
                </a:solidFill>
                <a:latin typeface="Arial"/>
                <a:ea typeface="Arial"/>
                <a:cs typeface="Arial"/>
              </a:rPr>
              <a:t>12 часов между запуском погодной модели и выпуском — допущение о доступности.</a:t>
            </a:r>
          </a:p>
        </p:txBody>
      </p:sp>
    </p:spTree>
    <p:extLst>
      <p:ext uri="{BB962C8B-B14F-4D97-AF65-F5344CB8AC3E}">
        <p14:creationId xmlns:p14="http://schemas.microsoft.com/office/powerpoint/2010/main" val="7812636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F94E7-2034-457C-8ECC-F30F1015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35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2352F"/>
                </a:solidFill>
                <a:latin typeface="Arial"/>
                <a:ea typeface="Arial"/>
                <a:cs typeface="Arial"/>
              </a:rPr>
              <a:t>Январская проверка качества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3801D-854D-4D13-853C-3BCDEB5E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1665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1665F"/>
                </a:solidFill>
                <a:latin typeface="Arial"/>
                <a:ea typeface="Arial"/>
                <a:cs typeface="Arial"/>
              </a:rPr>
              <a:t>10 выпусков, 960 часов двух турбин, горизонт 48 часов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66750" y="2305050"/>
          <a:ext xmlns:a="http://schemas.openxmlformats.org/drawingml/2006/main" cx="10858500" cy="2286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191000"/>
                <a:gridCol w="3238500"/>
                <a:gridCol w="3429000"/>
              </a:tblGrid>
              <a:tr h="7620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Сценарий времени CSV</a:t>
                      </a:r>
                    </a:p>
                  </a:txBody>
                  <a:tcPr marL="91440" marR="91440" marT="45720" marB="45720">
                    <a:solidFill>
                      <a:srgbClr val="1235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MAE модели</a:t>
                      </a:r>
                    </a:p>
                  </a:txBody>
                  <a:tcPr marL="91440" marR="91440" marT="45720" marB="45720">
                    <a:solidFill>
                      <a:srgbClr val="1235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MAE persistence</a:t>
                      </a:r>
                    </a:p>
                  </a:txBody>
                  <a:tcPr marL="91440" marR="91440" marT="45720" marB="45720">
                    <a:solidFill>
                      <a:srgbClr val="12352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2352F"/>
                          </a:solidFill>
                          <a:latin typeface="Arial"/>
                          <a:ea typeface="Arial"/>
                          <a:cs typeface="Arial"/>
                        </a:rPr>
                        <a:t>Asia/Almaty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2352F"/>
                          </a:solidFill>
                          <a:latin typeface="Arial"/>
                          <a:ea typeface="Arial"/>
                          <a:cs typeface="Arial"/>
                        </a:rPr>
                        <a:t>0.173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2352F"/>
                          </a:solidFill>
                          <a:latin typeface="Arial"/>
                          <a:ea typeface="Arial"/>
                          <a:cs typeface="Arial"/>
                        </a:rPr>
                        <a:t>0.337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2352F"/>
                          </a:solidFill>
                          <a:latin typeface="Arial"/>
                          <a:ea typeface="Arial"/>
                          <a:cs typeface="Arial"/>
                        </a:rPr>
                        <a:t>UTC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2352F"/>
                          </a:solidFill>
                          <a:latin typeface="Arial"/>
                          <a:ea typeface="Arial"/>
                          <a:cs typeface="Arial"/>
                        </a:rPr>
                        <a:t>0.206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2352F"/>
                          </a:solidFill>
                          <a:latin typeface="Arial"/>
                          <a:ea typeface="Arial"/>
                          <a:cs typeface="Arial"/>
                        </a:rPr>
                        <a:t>0.295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96DBE-C657-4CE6-A891-2FA2A70E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1665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1665F"/>
                </a:solidFill>
                <a:latin typeface="Arial"/>
                <a:ea typeface="Arial"/>
                <a:cs typeface="Arial"/>
              </a:rPr>
              <a:t>Persistence: простой прогноз по последним 6 часам.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D8D68-1643-48AF-9552-987896C5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388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52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352F"/>
                </a:solidFill>
                <a:latin typeface="Arial"/>
                <a:ea typeface="Arial"/>
                <a:cs typeface="Arial"/>
              </a:rPr>
              <a:t>Часовой пояс CSV неизвестен. Это сценарная диагностика.</a:t>
            </a:r>
          </a:p>
          <a:p xmlns:a="http://schemas.openxmlformats.org/drawingml/2006/main">
            <a:pPr>
              <a:defRPr sz="2100" b="1">
                <a:solidFill>
                  <a:srgbClr val="12352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352F"/>
                </a:solidFill>
                <a:latin typeface="Arial"/>
                <a:ea typeface="Arial"/>
                <a:cs typeface="Arial"/>
              </a:rPr>
              <a:t>Фактических данных за февраль нет.</a:t>
            </a:r>
          </a:p>
        </p:txBody>
      </p:sp>
    </p:spTree>
    <p:extLst>
      <p:ext uri="{BB962C8B-B14F-4D97-AF65-F5344CB8AC3E}">
        <p14:creationId xmlns:p14="http://schemas.microsoft.com/office/powerpoint/2010/main" val="6190327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A1D04-27E4-4E81-AD89-500EF81B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35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2352F"/>
                </a:solidFill>
                <a:latin typeface="Arial"/>
                <a:ea typeface="Arial"/>
                <a:cs typeface="Arial"/>
              </a:rPr>
              <a:t>Пересчёт после нового погодного выпуска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79B00-4C4A-43E5-8CB2-A4787AC6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1665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1665F"/>
                </a:solidFill>
                <a:latin typeface="Arial"/>
                <a:ea typeface="Arial"/>
                <a:cs typeface="Arial"/>
              </a:rPr>
              <a:t>Турбина 1, сценарий UTC, 24 общих часа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571500" y="2124075"/>
          <a:ext xmlns:a="http://schemas.openxmlformats.org/drawingml/2006/main" cx="7667625" cy="35337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05305aeed34021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FD1E9-426A-41CF-85A4-7F3BC7EC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00275"/>
            <a:ext cx="3095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9726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7260"/>
                </a:solidFill>
                <a:latin typeface="Arial"/>
                <a:ea typeface="Arial"/>
                <a:cs typeface="Arial"/>
              </a:rPr>
              <a:t>2 февраля, 11:00 UTC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FD358-C85A-49ED-B521-CBE870F7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813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52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2F"/>
                </a:solidFill>
                <a:latin typeface="Arial"/>
                <a:ea typeface="Arial"/>
                <a:cs typeface="Arial"/>
              </a:rPr>
              <a:t>Было 0.082</a:t>
            </a:r>
          </a:p>
          <a:p xmlns:a="http://schemas.openxmlformats.org/drawingml/2006/main">
            <a:pPr>
              <a:defRPr sz="2550" b="1">
                <a:solidFill>
                  <a:srgbClr val="12352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52F"/>
                </a:solidFill>
                <a:latin typeface="Arial"/>
                <a:ea typeface="Arial"/>
                <a:cs typeface="Arial"/>
              </a:rPr>
              <a:t>Стало 0.565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A4300-BD81-47B3-910B-791B4065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543425"/>
            <a:ext cx="2971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1665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1665F"/>
                </a:solidFill>
                <a:latin typeface="Arial"/>
                <a:ea typeface="Arial"/>
                <a:cs typeface="Arial"/>
              </a:rPr>
              <a:t>Прогноз ветра</a:t>
            </a:r>
          </a:p>
          <a:p xmlns:a="http://schemas.openxmlformats.org/drawingml/2006/main">
            <a:pPr>
              <a:defRPr sz="2100" b="0">
                <a:solidFill>
                  <a:srgbClr val="51665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1665F"/>
                </a:solidFill>
                <a:latin typeface="Arial"/>
                <a:ea typeface="Arial"/>
                <a:cs typeface="Arial"/>
              </a:rPr>
              <a:t>4.24 и 8.18 м/с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50B28-0276-43E9-A269-A32EED7D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02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1665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1665F"/>
                </a:solidFill>
                <a:latin typeface="Arial"/>
                <a:ea typeface="Arial"/>
                <a:cs typeface="Arial"/>
              </a:rPr>
              <a:t>Показано изменение прогноза и входов. Точность за февраль пока неизвестна.</a:t>
            </a:r>
          </a:p>
        </p:txBody>
      </p:sp>
    </p:spTree>
    <p:extLst>
      <p:ext uri="{BB962C8B-B14F-4D97-AF65-F5344CB8AC3E}">
        <p14:creationId xmlns:p14="http://schemas.microsoft.com/office/powerpoint/2010/main" val="3752300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6C9CB-9901-4D90-B1DA-2538284F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35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2352F"/>
                </a:solidFill>
                <a:latin typeface="Arial"/>
                <a:ea typeface="Arial"/>
                <a:cs typeface="Arial"/>
              </a:rPr>
              <a:t>Польза для оператора и воспроизводимость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5DC4E-D4C8-4F36-9C66-C5B7BEB6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97260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97260"/>
                </a:solidFill>
                <a:latin typeface="Arial"/>
                <a:ea typeface="Arial"/>
                <a:cs typeface="Arial"/>
              </a:rPr>
              <a:t>Окна низкой мощности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0589D-D7B5-4208-921B-BD11201D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1076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235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2352F"/>
                </a:solidFill>
                <a:latin typeface="Arial"/>
                <a:ea typeface="Arial"/>
                <a:cs typeface="Arial"/>
              </a:rPr>
              <a:t>Помогают выбрать часы для дополнительной проверки.</a:t>
            </a:r>
          </a:p>
          <a:p xmlns:a="http://schemas.openxmlformats.org/drawingml/2006/main">
            <a:pPr>
              <a:defRPr sz="2325" b="0">
                <a:solidFill>
                  <a:srgbClr val="1235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2352F"/>
                </a:solidFill>
                <a:latin typeface="Arial"/>
                <a:ea typeface="Arial"/>
                <a:cs typeface="Arial"/>
              </a:rPr>
              <a:t>Операционные решения принимает человек.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F959E-4D00-4A54-9893-4C6668FF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95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9726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97260"/>
                </a:solidFill>
                <a:latin typeface="Arial"/>
                <a:ea typeface="Arial"/>
                <a:cs typeface="Arial"/>
              </a:rPr>
              <a:t>29 ежедневных выпусков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0CCD3-89E8-48A0-B503-39C12F61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10858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35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352F"/>
                </a:solidFill>
                <a:latin typeface="Arial"/>
                <a:ea typeface="Arial"/>
                <a:cs typeface="Arial"/>
              </a:rPr>
              <a:t>По 48 часов для двух турбин. 2 784 прогнозные строки.</a:t>
            </a:r>
          </a:p>
          <a:p xmlns:a="http://schemas.openxmlformats.org/drawingml/2006/main">
            <a:pPr>
              <a:defRPr sz="2175" b="0">
                <a:solidFill>
                  <a:srgbClr val="1235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352F"/>
                </a:solidFill>
                <a:latin typeface="Arial"/>
                <a:ea typeface="Arial"/>
                <a:cs typeface="Arial"/>
              </a:rPr>
              <a:t>CSV и метаданные сохраняют источник каждого расчёта.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753A7-3BAF-433B-A655-F3B99919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9122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1665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65F"/>
                </a:solidFill>
                <a:latin typeface="Arial"/>
                <a:ea typeface="Arial"/>
                <a:cs typeface="Arial"/>
              </a:rPr>
              <a:t>Локальное демо использует сохранённую погоду. Мощность выражаем в единицах 0–1.</a:t>
            </a:r>
          </a:p>
        </p:txBody>
      </p:sp>
    </p:spTree>
    <p:extLst>
      <p:ext uri="{BB962C8B-B14F-4D97-AF65-F5344CB8AC3E}">
        <p14:creationId xmlns:p14="http://schemas.microsoft.com/office/powerpoint/2010/main" val="16758061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2026-09-23T11:53:28.3880000Z</dcterms:created>
  <dcterms:modified xsi:type="dcterms:W3CDTF">2026-09-23T11:53:28.3880000Z</dcterms:modified>
</coreProperties>
</file>